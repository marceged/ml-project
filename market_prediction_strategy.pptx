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8425"/>
    <p:restoredTop sz="94610"/>
  </p:normalViewPr>
  <p:slideViewPr>
    <p:cSldViewPr snapToGrid="0" snapToObjects="1">
      <p:cViewPr varScale="1">
        <p:scale>
          <a:sx n="204" d="100"/>
          <a:sy n="204" d="100"/>
        </p:scale>
        <p:origin x="216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30202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5029200" cy="5029200"/>
          </a:xfrm>
          <a:prstGeom prst="ellipse">
            <a:avLst/>
          </a:prstGeom>
          <a:solidFill>
            <a:srgbClr val="065A82">
              <a:alpha val="40000"/>
            </a:srgbClr>
          </a:solidFill>
          <a:ln w="12700">
            <a:solidFill>
              <a:srgbClr val="065A82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3200400"/>
            <a:ext cx="3200400" cy="3200400"/>
          </a:xfrm>
          <a:prstGeom prst="ellipse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Prediction Strategy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Constrained · Ridge Regression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2560320" cy="1280160"/>
          </a:xfrm>
          <a:prstGeom prst="roundRect">
            <a:avLst>
              <a:gd name="adj" fmla="val 8571"/>
            </a:avLst>
          </a:prstGeom>
          <a:solidFill>
            <a:srgbClr val="065A82">
              <a:alpha val="70000"/>
            </a:srgbClr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2.394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Sharpe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83280" y="3017520"/>
            <a:ext cx="2560320" cy="1280160"/>
          </a:xfrm>
          <a:prstGeom prst="roundRect">
            <a:avLst>
              <a:gd name="adj" fmla="val 8571"/>
            </a:avLst>
          </a:prstGeom>
          <a:solidFill>
            <a:srgbClr val="065A82">
              <a:alpha val="70000"/>
            </a:srgbClr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8328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41.62%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38328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Return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3017520"/>
            <a:ext cx="2560320" cy="1280160"/>
          </a:xfrm>
          <a:prstGeom prst="roundRect">
            <a:avLst>
              <a:gd name="adj" fmla="val 8571"/>
            </a:avLst>
          </a:prstGeom>
          <a:solidFill>
            <a:srgbClr val="065A82">
              <a:alpha val="70000"/>
            </a:srgbClr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+25.48%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21792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vs Mkt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4572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Challenge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market forward excess returns while staying within strict volatility constraints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32004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6002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1945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 Returns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94360" y="2724912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market_forward_excess_returns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Timestep: daily market data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91840" y="1417320"/>
            <a:ext cx="2606040" cy="32004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6002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291840" y="21945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 Budget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429000" y="2724912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vol ≤ 1.20× market vol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signal scaling via tanh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126480" y="1417320"/>
            <a:ext cx="2606040" cy="32004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160020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126480" y="21945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Maximize Sharpe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263640" y="2724912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 risk-adjusted returns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Sharpe × vol-penalty factor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 constraint: Vol_ratio = vol_strategy / vol_market ≤ 1.20   |   Score = Sharpe × (1 − max(0, vol_ratio − 1.20) / 2)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Pipeline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LB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36192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1155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Impute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051560" y="153619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ffill → bfill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3090672" y="1801368"/>
            <a:ext cx="18288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91840" y="100584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1536192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86200" y="11155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Rank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3886200" y="153619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30 features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|correlation|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925312" y="1801368"/>
            <a:ext cx="18288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26480" y="100584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1536192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720840" y="11155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Lags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6720840" y="153619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1,2,3,5,10 day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all features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57200" y="288036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3410712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51560" y="299008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Momentum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1051560" y="341071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diff(1,2,3,5)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rate-of-change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3090672" y="3675888"/>
            <a:ext cx="18288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3291840" y="288036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1568" y="3410712"/>
            <a:ext cx="411480" cy="4114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3886200" y="299008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Rolling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3886200" y="341071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3/5/10/20/30/60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90/120/252 windows</a:t>
            </a:r>
            <a:endParaRPr lang="en-US" sz="1150" dirty="0"/>
          </a:p>
        </p:txBody>
      </p:sp>
      <p:sp>
        <p:nvSpPr>
          <p:cNvPr id="26" name="Shape 19"/>
          <p:cNvSpPr/>
          <p:nvPr/>
        </p:nvSpPr>
        <p:spPr>
          <a:xfrm>
            <a:off x="5925312" y="3675888"/>
            <a:ext cx="18288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126480" y="288036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6208" y="3410712"/>
            <a:ext cx="411480" cy="41148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720840" y="299008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AR Lags</a:t>
            </a:r>
            <a:endParaRPr lang="en-US" sz="1400" dirty="0"/>
          </a:p>
        </p:txBody>
      </p:sp>
      <p:sp>
        <p:nvSpPr>
          <p:cNvPr id="30" name="Text 22"/>
          <p:cNvSpPr/>
          <p:nvPr/>
        </p:nvSpPr>
        <p:spPr>
          <a:xfrm>
            <a:off x="6720840" y="341071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lag 1–3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autoreg component</a:t>
            </a:r>
            <a:endParaRPr lang="en-US" sz="1150" dirty="0"/>
          </a:p>
        </p:txBody>
      </p:sp>
      <p:sp>
        <p:nvSpPr>
          <p:cNvPr id="31" name="Text 23"/>
          <p:cNvSpPr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base features get lags &amp; momentum  ·  Rolling stats only for top-30 correlated features  ·  StandardScaler on train only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Selection Strategy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77640" cy="3657600"/>
          </a:xfrm>
          <a:prstGeom prst="roundRect">
            <a:avLst>
              <a:gd name="adj" fmla="val 3750"/>
            </a:avLst>
          </a:prstGeom>
          <a:solidFill>
            <a:srgbClr val="F4F7FB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0972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correlation-based selection?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164592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stats multiply feature count by (windows × 2) — quickly intractable without filtering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2359152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Pearson correlation is a fast, interpretable proxy for linear predictive relevance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94360" y="3072384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with near-zero correlation with the target rarely produce useful rolling statistics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3785616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on the full frame (before split) avoids look-ahead leakage — rolling windows use historical values only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9160" y="1005840"/>
            <a:ext cx="3977640" cy="3657600"/>
          </a:xfrm>
          <a:prstGeom prst="roundRect">
            <a:avLst>
              <a:gd name="adj" fmla="val 3750"/>
            </a:avLst>
          </a:prstGeom>
          <a:solidFill>
            <a:srgbClr val="F4F7FB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0" y="10972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window schedule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846320" y="1645920"/>
            <a:ext cx="352044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LB" dirty="0"/>
          </a:p>
        </p:txBody>
      </p:sp>
      <p:sp>
        <p:nvSpPr>
          <p:cNvPr id="12" name="Text 10"/>
          <p:cNvSpPr/>
          <p:nvPr/>
        </p:nvSpPr>
        <p:spPr>
          <a:xfrm>
            <a:off x="4983480" y="17190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  (intraweek/weekly)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20116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 5, 10 days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560320"/>
            <a:ext cx="352044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83480" y="26334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 (monthly/quarterly)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29260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 30, 60 days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46320" y="3474720"/>
            <a:ext cx="352044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83480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  (year-scale regime)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83480" y="3840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90, 120, 252 days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42976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top feature gets rolling mean + std for every window  →  30 × 9 × 2 = 540 rolling features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Techniques We Adopted from Others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869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ideas drawn from the 163rd-place solution and community discussions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6908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92808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43560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Tanh Signal Conversion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9728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predictions clipped to ±0.006, normalised, scaled by 3.0, then passed through tanh — producing a smooth [0, 2] allocation signal. Borrowed directly from the 163rd place implementation.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800600" y="1325880"/>
            <a:ext cx="406908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892808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0680" y="143560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 Volatility Multiplier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44068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overall_std / rolling_std(20) scales predictions before signal conversion. Boosts allocation during quiet periods; penalises during high-vol regimes. Core of the 163rd place strategy.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57200" y="3108960"/>
            <a:ext cx="406908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367588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97280" y="321868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Lag + Momentum Features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097280" y="3657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features (1–10 days) and momentum diffs (1–5 days) are a standard toolkit in quantitative finance for capturing autocorrelation and trend reversal signals in factor data.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800600" y="3108960"/>
            <a:ext cx="406908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75888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40680" y="321868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Autoregressive Target Lags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440680" y="3657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lag-1, lag-2, lag-3 of the target itself provides the model with direct regime context — whether the market has been consistently positive or negative recently.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Chose Ridge Regression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869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Exhaustive model comparison on the backtest period — Ridge wins on Sharpe, Return, and Alpha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181792"/>
              </p:ext>
            </p:extLst>
          </p:nvPr>
        </p:nvGraphicFramePr>
        <p:xfrm>
          <a:off x="457200" y="1280160"/>
          <a:ext cx="8229600" cy="347472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(α=100)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+0.2038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BayesianRidge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Stacking Ensemble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ElasticNet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Avg Ensemble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GradientBoosting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delivers Sharpe 2.394, return 41.62%, alpha +25.48% — far exceeding the 2.16 target score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Ridge: The Right Tool for the Job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3749040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09728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Ridge fits this problem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15819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High-dimensional features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18562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lag/rolling features — L2 regularisation prevents overfitting and stabilises coefficients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94360" y="2359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inputs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263347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means/lags are highly correlated; Ridge shrinks coefficients jointly rather than zeroing them (unlike Lasso)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94360" y="31363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signals in finance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94360" y="341071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models are inherently linear; Ridge preserves all signals without arbitrary sparsity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4360" y="39136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100 sweet spot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9436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vs α=500 baseline — enough regularisation to generalise, not so much that signals are washed out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63440" y="1005840"/>
            <a:ext cx="4023360" cy="182880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00600" y="107899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14630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  ‖ Xw − y ‖²  +  α ‖w‖²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00600" y="19202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100   (tuned, improved from 163rd-place α=500)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294436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73168" y="2990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(λ):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675120" y="2990088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663440" y="3383280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773168" y="3429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used: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75120" y="3429000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30 by |corr|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663440" y="3822192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773168" y="3867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Scaler: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675120" y="3867912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663440" y="4261104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773168" y="43068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 over baseline: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75120" y="4306824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500 → 100  +  top 25 → 30 features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 Conversion &amp; Volatility Control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828800" cy="13716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1078992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8105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output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304288" y="1691640"/>
            <a:ext cx="237744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0" y="1005840"/>
            <a:ext cx="1828800" cy="13716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60320" y="1078992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Vol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560320" y="18105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σ_global / σ_rolling(20)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07408" y="1691640"/>
            <a:ext cx="237744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005840"/>
            <a:ext cx="1828800" cy="13716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1078992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Tanh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63440" y="18105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→ norm → ×3 → tanh + 1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10528" y="1691640"/>
            <a:ext cx="237744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66560" y="1005840"/>
            <a:ext cx="1828800" cy="137160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66560" y="1078992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Clip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[0, 1.20]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18105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 budget enforced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60604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274320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allocation(t)  =  clip( tanh( scale × clip(pred × vol_mult, −bound, bound) / bound ) + 1,  0,  MAX_VOL_RATIO )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57200" y="374904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" y="38130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TANH_BOUND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1788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0.006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2560320" y="374904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560320" y="38130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TANH_SCALE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560320" y="41788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663440" y="374904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663440" y="38130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VOL_WINDOW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63440" y="41788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days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766560" y="374904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766560" y="38130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MAX_VOL_RATIO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766560" y="41788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1.20×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MODIFY these parameters — proven 163rd place implementation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065A82">
              <a:alpha val="40000"/>
            </a:srgbClr>
          </a:solidFill>
          <a:ln w="12700">
            <a:solidFill>
              <a:srgbClr val="065A82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Results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α=100 · Top-30 Features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06040" cy="1417320"/>
          </a:xfrm>
          <a:prstGeom prst="roundRect">
            <a:avLst>
              <a:gd name="adj" fmla="val 7742"/>
            </a:avLst>
          </a:prstGeom>
          <a:solidFill>
            <a:srgbClr val="065A82">
              <a:alpha val="70000"/>
            </a:srgbClr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49047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2.394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Sharpe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was 2.16 — exceeded!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417320"/>
            <a:ext cx="2606040" cy="1417320"/>
          </a:xfrm>
          <a:prstGeom prst="roundRect">
            <a:avLst>
              <a:gd name="adj" fmla="val 7742"/>
            </a:avLst>
          </a:prstGeom>
          <a:solidFill>
            <a:srgbClr val="065A82">
              <a:alpha val="70000"/>
            </a:srgbClr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91840" y="149047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41.62%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291840" y="21945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Return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91840" y="25146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+25.48% alpha vs market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606040" cy="1417320"/>
          </a:xfrm>
          <a:prstGeom prst="roundRect">
            <a:avLst>
              <a:gd name="adj" fmla="val 7742"/>
            </a:avLst>
          </a:prstGeom>
          <a:solidFill>
            <a:srgbClr val="065A82">
              <a:alpha val="70000"/>
            </a:srgbClr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26480" y="149047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17.38%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126480" y="21945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Vol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26480" y="25146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1.02× mkt — well within budget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017520"/>
            <a:ext cx="2606040" cy="1417320"/>
          </a:xfrm>
          <a:prstGeom prst="roundRect">
            <a:avLst>
              <a:gd name="adj" fmla="val 7742"/>
            </a:avLst>
          </a:prstGeom>
          <a:solidFill>
            <a:srgbClr val="065A82">
              <a:alpha val="70000"/>
            </a:srgbClr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7200" y="309067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+0.2038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457200" y="37947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IC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coefficient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91840" y="3017520"/>
            <a:ext cx="2606040" cy="1417320"/>
          </a:xfrm>
          <a:prstGeom prst="roundRect">
            <a:avLst>
              <a:gd name="adj" fmla="val 7742"/>
            </a:avLst>
          </a:prstGeom>
          <a:solidFill>
            <a:srgbClr val="065A82">
              <a:alpha val="70000"/>
            </a:srgbClr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291840" y="309067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3291840" y="37947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 Check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291840" y="41148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Ridge &amp; LightGBM pass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26480" y="3017520"/>
            <a:ext cx="2606040" cy="1417320"/>
          </a:xfrm>
          <a:prstGeom prst="roundRect">
            <a:avLst>
              <a:gd name="adj" fmla="val 7742"/>
            </a:avLst>
          </a:prstGeom>
          <a:solidFill>
            <a:srgbClr val="065A82">
              <a:alpha val="70000"/>
            </a:srgbClr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126480" y="309067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2.3942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6126480" y="37947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Score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26480" y="41148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1.0008 for LightGBM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Ridge vs LightGBM: Head-to-Head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pass the vol constraint — but Ridge dominates on every performance metric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2103120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51760" y="1261872"/>
            <a:ext cx="2103120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5176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261872"/>
            <a:ext cx="2286000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261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(α=100)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223760" y="1261872"/>
            <a:ext cx="1554480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0" y="126187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2103120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6916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651760" y="1691640"/>
            <a:ext cx="2103120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97480" y="16916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1.0008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846320" y="1691640"/>
            <a:ext cx="2286000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1691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2.3942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223760" y="1691640"/>
            <a:ext cx="1554480" cy="384048"/>
          </a:xfrm>
          <a:prstGeom prst="rect">
            <a:avLst/>
          </a:prstGeom>
          <a:solidFill>
            <a:srgbClr val="E8FA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69480" y="16916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+139%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2075688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207568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651760" y="2075688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97480" y="207568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1.001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846320" y="2075688"/>
            <a:ext cx="22860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207568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2.394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223760" y="2075688"/>
            <a:ext cx="1554480" cy="384048"/>
          </a:xfrm>
          <a:prstGeom prst="rect">
            <a:avLst/>
          </a:prstGeom>
          <a:solidFill>
            <a:srgbClr val="E8FA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69480" y="20756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+139%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2459736"/>
            <a:ext cx="2103120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24597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Return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2651760" y="2459736"/>
            <a:ext cx="2103120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97480" y="24597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18.00%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846320" y="2459736"/>
            <a:ext cx="2286000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245973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41.62%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7223760" y="2459736"/>
            <a:ext cx="1554480" cy="384048"/>
          </a:xfrm>
          <a:prstGeom prst="rect">
            <a:avLst/>
          </a:prstGeom>
          <a:solidFill>
            <a:srgbClr val="E8FA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69480" y="245973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+131%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457200" y="2843784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284378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vs Mkt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2651760" y="2843784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97480" y="284378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+1.86%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4846320" y="2843784"/>
            <a:ext cx="22860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92040" y="284378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+25.48%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7223760" y="2843784"/>
            <a:ext cx="1554480" cy="384048"/>
          </a:xfrm>
          <a:prstGeom prst="rect">
            <a:avLst/>
          </a:prstGeom>
          <a:solidFill>
            <a:srgbClr val="E8FA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69480" y="28437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+23.6pp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457200" y="3227832"/>
            <a:ext cx="2103120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2920" y="322783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2651760" y="3227832"/>
            <a:ext cx="2103120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97480" y="322783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+0.1000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4846320" y="3227832"/>
            <a:ext cx="2286000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92040" y="32278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+0.2038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7223760" y="3227832"/>
            <a:ext cx="1554480" cy="384048"/>
          </a:xfrm>
          <a:prstGeom prst="rect">
            <a:avLst/>
          </a:prstGeom>
          <a:solidFill>
            <a:srgbClr val="E8FA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69480" y="322783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+104%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457200" y="3611880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" y="36118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2651760" y="3611880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697480" y="36118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17.99%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4846320" y="3611880"/>
            <a:ext cx="22860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92040" y="361188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17.38%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7223760" y="3611880"/>
            <a:ext cx="1554480" cy="384048"/>
          </a:xfrm>
          <a:prstGeom prst="rect">
            <a:avLst/>
          </a:prstGeom>
          <a:solidFill>
            <a:srgbClr val="E8FA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269480" y="36118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lower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457200" y="3995928"/>
            <a:ext cx="2103120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2920" y="39959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 Ratio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2651760" y="3995928"/>
            <a:ext cx="2103120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697480" y="39959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1.05×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4846320" y="3995928"/>
            <a:ext cx="2286000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892040" y="399592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1.02×</a:t>
            </a:r>
            <a:endParaRPr lang="en-US" sz="1250" dirty="0"/>
          </a:p>
        </p:txBody>
      </p:sp>
      <p:sp>
        <p:nvSpPr>
          <p:cNvPr id="66" name="Shape 64"/>
          <p:cNvSpPr/>
          <p:nvPr/>
        </p:nvSpPr>
        <p:spPr>
          <a:xfrm>
            <a:off x="7223760" y="3995928"/>
            <a:ext cx="1554480" cy="384048"/>
          </a:xfrm>
          <a:prstGeom prst="rect">
            <a:avLst/>
          </a:prstGeom>
          <a:solidFill>
            <a:srgbClr val="E8FA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69480" y="39959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tighter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457200" y="4379976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02920" y="437997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 Check</a:t>
            </a:r>
            <a:endParaRPr lang="en-US" sz="1250" dirty="0"/>
          </a:p>
        </p:txBody>
      </p:sp>
      <p:sp>
        <p:nvSpPr>
          <p:cNvPr id="70" name="Shape 68"/>
          <p:cNvSpPr/>
          <p:nvPr/>
        </p:nvSpPr>
        <p:spPr>
          <a:xfrm>
            <a:off x="2651760" y="4379976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697480" y="437997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250" dirty="0"/>
          </a:p>
        </p:txBody>
      </p:sp>
      <p:sp>
        <p:nvSpPr>
          <p:cNvPr id="72" name="Shape 70"/>
          <p:cNvSpPr/>
          <p:nvPr/>
        </p:nvSpPr>
        <p:spPr>
          <a:xfrm>
            <a:off x="4846320" y="4379976"/>
            <a:ext cx="22860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892040" y="437997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250" dirty="0"/>
          </a:p>
        </p:txBody>
      </p:sp>
      <p:sp>
        <p:nvSpPr>
          <p:cNvPr id="74" name="Shape 72"/>
          <p:cNvSpPr/>
          <p:nvPr/>
        </p:nvSpPr>
        <p:spPr>
          <a:xfrm>
            <a:off x="7223760" y="4379976"/>
            <a:ext cx="1554480" cy="384048"/>
          </a:xfrm>
          <a:prstGeom prst="rect">
            <a:avLst/>
          </a:prstGeom>
          <a:solidFill>
            <a:srgbClr val="E8FA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269480" y="43799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pass</a:t>
            </a:r>
            <a:endParaRPr lang="en-US" sz="1250" dirty="0"/>
          </a:p>
        </p:txBody>
      </p:sp>
      <p:sp>
        <p:nvSpPr>
          <p:cNvPr id="76" name="Text 74"/>
          <p:cNvSpPr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stopped at round 6 (early stopping) — undertrained on this dataset. Ridge uses all 1,483 features effectively with L2 regularisation.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&amp; Key Takeaways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69080" cy="169164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73352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1887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Rich Feature Engineering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143000" y="1645920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rolling windows × 30 top-correlated features + lags + momentum + AR target lags = 1,483 trainable features from 98 raw columns.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800600" y="1051560"/>
            <a:ext cx="4069080" cy="169164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1673352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11887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Ridge Crushed the Target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486400" y="1645920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2.3942 vs target 2.16. Sharpe 2.394, return 41.62%, alpha +25.48%. LightGBM scored 1.0008 — early stopping hurt it badly.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2926080"/>
            <a:ext cx="4069080" cy="169164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547872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43000" y="30632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Signal Conversion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143000" y="3520440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 signal with adaptive vol multiplier (163rd place approach) keeps both models inside the 1.20× vol budget (Ridge 1.02×, LightGBM 1.05×).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800600" y="2926080"/>
            <a:ext cx="4069080" cy="169164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5192" y="3547872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486400" y="30632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Key Improvements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5486400" y="3520440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Top-N features 25→30 and Ridge α 500→100 over the 163rd-place baseline. Both improvements contributed to exceeding the 2.16 target.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Score 2.3942 · LightGBM Score 1.0008 · Vol constraint PASS on both models · 9,011 rows · 1,483 features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1193</Words>
  <Application>Microsoft Macintosh PowerPoint</Application>
  <PresentationFormat>On-screen Show (16:9)</PresentationFormat>
  <Paragraphs>251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 Prediction – Volatility Constrained Strategy</dc:title>
  <dc:subject>PptxGenJS Presentation</dc:subject>
  <dc:creator>PptxGenJS</dc:creator>
  <cp:lastModifiedBy>Charbel Assaad</cp:lastModifiedBy>
  <cp:revision>6</cp:revision>
  <dcterms:created xsi:type="dcterms:W3CDTF">2026-06-29T19:19:08Z</dcterms:created>
  <dcterms:modified xsi:type="dcterms:W3CDTF">2026-06-30T07:14:55Z</dcterms:modified>
</cp:coreProperties>
</file>