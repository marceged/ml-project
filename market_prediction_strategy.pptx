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020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Prediction Strategy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Constrained · Ridge </a:t>
            </a:r>
            <a:r>
              <a:rPr lang="en-US" sz="18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063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2.394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Sharpe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30175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3063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41.62%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8328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Return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3063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+25.48%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vs Mkt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market forward excess returns while staying within strict volatility constraints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002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Returns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2724912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market_forward_excess_returns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Timestep: daily market data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41732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002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Budget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429000" y="2724912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vol ≤ 1.20× market vol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signal scaling via tanh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26480" y="141732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6002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Maximize Sharpe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263640" y="2724912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risk-adjusted returns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Sharpe × vol-penalty factor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constraint: Vol_ratio = vol_strategy / vol_market ≤ 1.20   |   Score = Sharpe × (1 − max(0, vol_ratio − 1.20) / 2)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3619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Impute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51560" y="153619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 → bfill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090672" y="1801368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91840" y="10058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53619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620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Rank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886200" y="153619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30 features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|correlation|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925312" y="1801368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26480" y="10058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153619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20840" y="1115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Lags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720840" y="153619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1,2,3,5,10 day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all features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57200" y="288036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1071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29900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Momentum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051560" y="341071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diff(1,2,3,5)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rate-of-change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3090672" y="3675888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291840" y="288036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410712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86200" y="29900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Rolling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3886200" y="341071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3/5/10/20/30/60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90/120/252 windows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925312" y="3675888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126480" y="288036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3410712"/>
            <a:ext cx="411480" cy="4114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20840" y="29900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AR Lags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6720840" y="341071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lag 1–3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 component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base features get lags &amp; momentum  ·  Rolling stats only for top-30 correlated features  ·  StandardScaler on train only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65760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972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correlation-based selection?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6459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stats multiply feature count by (windows × 2) — quickly intractable without filtering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35915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Pearson correlation is a fast, interpretable proxy for linear predictive relevance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307238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with near-zero correlation with the target rarely produce useful rolling statistics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378561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on the full frame (before split) avoids look-ahead leakage — rolling windows use historical values only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977640" cy="365760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0972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window schedule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1645920"/>
            <a:ext cx="35204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7190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  (intraweek/weekly)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0116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5, 10 days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560320"/>
            <a:ext cx="35204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26334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(monthly/quarterly)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926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 30, 60 days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474720"/>
            <a:ext cx="35204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35478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  (year-scale regime)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8404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 120, 252 days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4297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 feature gets rolling mean + std for every window  →  30 × 9 × 2 = 540 rolling features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 We Adopted from Others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 drawn from the 163rd-place solution and community discussions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690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9280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4356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Tanh Signal Conversion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1874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predictions clipped to ±0.006, normalised, scaled by 3.0, then passed through tanh — producing a smooth [0, 2] allocation signal. Borrowed directly from the 163rd place implementation.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00600" y="1325880"/>
            <a:ext cx="40690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89280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4356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Volatility Multiplier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40680" y="1874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overall_std / rolling_std(20) scales predictions before signal conversion. Boosts allocation during quiet periods; penalises during high-vol regimes. Core of the 163rd place strategy.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3108960"/>
            <a:ext cx="40690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67588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2186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 + Momentum Features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97280" y="3657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(1–10 days) and momentum diffs (1–5 days) are a standard toolkit in quantitative finance for capturing autocorrelation and trend reversal signals in factor data.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800600" y="3108960"/>
            <a:ext cx="40690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67588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2186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Autoregressive Target Lags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40680" y="3657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lag-1, lag-2, lag-3 of the target itself provides the model with direct regime context — whether the market has been consistently positive or negative recently.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Chose Ridge Regression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model comparison on the backtest period — Ridge wins on Sharpe, Return, and Alpha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(α=100)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(Phase 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BayesianRidge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 Ensemble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 Ensemble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</a:t>
            </a: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Sharpe 2.394, return 41.62%, alpha +25.48% — far exceeding the 2.16 target score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Ridge: The Right Tool for the Job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74904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97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Ridge fits this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581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features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8562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lag/rolling features — L2 regularisation prevents overfitting and stabilises coefficients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inputs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6334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means/lags are highly correlated; Ridge shrinks coefficients jointly rather than zeroing them (unlike Lasso)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3136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signals in finance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4107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models are inherently linear; Ridge preserves all signals without arbitrary sparsity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100 sweet spot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4187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vs α=500 baseline — enough regularisation to generalise, not so much that signals are washed out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023360" cy="182880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463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 ‖ Xw − y ‖²  +  α ‖w‖²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100   (tuned, improved from 163rd-place α=500)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94436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73168" y="2990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(λ):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75120" y="299008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3383280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73168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75120" y="342900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30 by |corr|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3822192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73168" y="3867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75120" y="386791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4261104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73168" y="4306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baseline: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75120" y="430682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500 → 100  +  top 25 → 30 features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Conversion &amp; Volatility Control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7899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10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output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04288" y="1691640"/>
            <a:ext cx="237744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00584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07899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Vol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1810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σ_global / σ_rolling(20)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07408" y="1691640"/>
            <a:ext cx="237744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0584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7899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1810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→ norm → ×3 → tanh + 1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10528" y="1691640"/>
            <a:ext cx="237744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100584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07899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[0, 1.20]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1810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budget enforced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27432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allocation(t)  =  clip( tanh( scale × clip(pred × vol_mult, −bound, bound) / bound ) + 1,  0,  MAX_VOL_RATIO 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813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TANH_BOUND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1788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0.006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560320" y="37490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60320" y="3813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TANH_SCALE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41788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663440" y="37490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3813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VOL_WINDOW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41788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days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766560" y="37490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66560" y="3813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MAX_VOL_RATIO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41788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1.20×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MODIFY these parameters — proven 163rd place implementation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Results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</a:t>
            </a: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α=100 · Top-30 Features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9047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2.394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Sharpe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was 2.16 — exceeded!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9047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41.62%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21945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Return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514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+25.48% alpha vs market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49047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17.38%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26480" y="21945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Vol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514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1.02× mkt — well within budget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09067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+0.2038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coefficient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30175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309067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291840" y="37947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Check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41148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Ridge &amp; LightGBM pass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3090672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2.3942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126480" y="37947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26480" y="41148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1.0008 for LightGBM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vs LightGBM: Head-to-Head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pass the vol constraint — but Ridge dominates on every performance metric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10312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261872"/>
            <a:ext cx="210312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2618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261872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61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(α=100)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1261872"/>
            <a:ext cx="155448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12618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210312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691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651760" y="1691640"/>
            <a:ext cx="210312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691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1.0008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1691640"/>
            <a:ext cx="228600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691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2.3942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23760" y="1691640"/>
            <a:ext cx="1554480" cy="384048"/>
          </a:xfrm>
          <a:prstGeom prst="rect">
            <a:avLst/>
          </a:prstGeom>
          <a:solidFill>
            <a:srgbClr val="E8FA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691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+139%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2075688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0756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651760" y="2075688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20756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1.001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46320" y="2075688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0756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2.394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223760" y="2075688"/>
            <a:ext cx="1554480" cy="384048"/>
          </a:xfrm>
          <a:prstGeom prst="rect">
            <a:avLst/>
          </a:prstGeom>
          <a:solidFill>
            <a:srgbClr val="E8FA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2075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+139%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2459736"/>
            <a:ext cx="210312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4597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Return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651760" y="2459736"/>
            <a:ext cx="210312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24597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18.00%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846320" y="2459736"/>
            <a:ext cx="228600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4597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41.62%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223760" y="2459736"/>
            <a:ext cx="1554480" cy="384048"/>
          </a:xfrm>
          <a:prstGeom prst="rect">
            <a:avLst/>
          </a:prstGeom>
          <a:solidFill>
            <a:srgbClr val="E8FA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24597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+131%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7200" y="2843784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8437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vs Mkt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651760" y="2843784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28437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+1.86%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846320" y="2843784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8437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+25.48%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223760" y="2843784"/>
            <a:ext cx="1554480" cy="384048"/>
          </a:xfrm>
          <a:prstGeom prst="rect">
            <a:avLst/>
          </a:prstGeom>
          <a:solidFill>
            <a:srgbClr val="E8FA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28437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+23.6pp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57200" y="3227832"/>
            <a:ext cx="210312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3227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651760" y="3227832"/>
            <a:ext cx="210312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97480" y="3227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+0.1000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846320" y="3227832"/>
            <a:ext cx="228600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227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+0.2038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223760" y="3227832"/>
            <a:ext cx="1554480" cy="384048"/>
          </a:xfrm>
          <a:prstGeom prst="rect">
            <a:avLst/>
          </a:prstGeom>
          <a:solidFill>
            <a:srgbClr val="E8FA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9480" y="32278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+104%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457200" y="361188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3611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2651760" y="361188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97480" y="3611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17.99%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4846320" y="3611880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36118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17.38%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7223760" y="3611880"/>
            <a:ext cx="1554480" cy="384048"/>
          </a:xfrm>
          <a:prstGeom prst="rect">
            <a:avLst/>
          </a:prstGeom>
          <a:solidFill>
            <a:srgbClr val="E8FA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69480" y="3611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lower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457200" y="3995928"/>
            <a:ext cx="210312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39959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Ratio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2651760" y="3995928"/>
            <a:ext cx="210312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97480" y="39959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1.05×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4846320" y="3995928"/>
            <a:ext cx="2286000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92040" y="39959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1.02×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7223760" y="3995928"/>
            <a:ext cx="1554480" cy="384048"/>
          </a:xfrm>
          <a:prstGeom prst="rect">
            <a:avLst/>
          </a:prstGeom>
          <a:solidFill>
            <a:srgbClr val="E8FA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69480" y="39959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tighter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457200" y="4379976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" y="43799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Check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2651760" y="4379976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697480" y="43799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4846320" y="4379976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92040" y="43799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50" dirty="0"/>
          </a:p>
        </p:txBody>
      </p:sp>
      <p:sp>
        <p:nvSpPr>
          <p:cNvPr id="74" name="Shape 72"/>
          <p:cNvSpPr/>
          <p:nvPr/>
        </p:nvSpPr>
        <p:spPr>
          <a:xfrm>
            <a:off x="7223760" y="4379976"/>
            <a:ext cx="1554480" cy="384048"/>
          </a:xfrm>
          <a:prstGeom prst="rect">
            <a:avLst/>
          </a:prstGeom>
          <a:solidFill>
            <a:srgbClr val="E8FA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69480" y="43799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pass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stopped at round 6 (early stopping) — undertrained on this dataset. Ridge uses all 1,483 features effectively with L2 regularisation.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6908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7335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188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Feature Engineering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43000" y="1645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rolling windows × 30 top-correlated features + lags + momentum + AR target lags = 1,483 trainable features from 98 raw columns.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00600" y="1051560"/>
            <a:ext cx="406908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67335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1188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Crushed the Target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0" y="16459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2.3942 vs target 2.16. Sharpe 2.394, return 41.62%, alpha +25.48%. LightGBM scored 1.0008 — early stopping hurt it badly.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926080"/>
            <a:ext cx="406908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54787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063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Signal Conversion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35204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signal with adaptive vol multiplier (163rd place approach) keeps both models inside the 1.20× vol budget (Ridge 1.02×, LightGBM 1.05×).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800600" y="2926080"/>
            <a:ext cx="406908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547872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0" y="3063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Key Improvements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486400" y="35204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features 25→30 and Ridge α 500→100 over the 163rd-place baseline. Both improvements contributed to exceeding the 2.16 target.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Score 2.3942 · LightGBM Score 1.0008 · Vol constraint PASS on both models · 9,011 rows · 1,483 features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1127</Words>
  <Application>Microsoft Office PowerPoint</Application>
  <PresentationFormat>On-screen Show (16:9)</PresentationFormat>
  <Paragraphs>251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Prediction – Volatility Constrained Strategy</dc:title>
  <dc:subject>PptxGenJS Presentation</dc:subject>
  <dc:creator>PptxGenJS</dc:creator>
  <cp:lastModifiedBy>User</cp:lastModifiedBy>
  <cp:revision>5</cp:revision>
  <dcterms:created xsi:type="dcterms:W3CDTF">2026-06-29T19:19:08Z</dcterms:created>
  <dcterms:modified xsi:type="dcterms:W3CDTF">2026-06-29T21:37:08Z</dcterms:modified>
</cp:coreProperties>
</file>